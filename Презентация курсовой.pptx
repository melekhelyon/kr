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2214F0-B951-69FE-C38F-57432306B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58EDF34-8894-5944-D1E3-60EF24A5D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8737EA-BA82-9452-BD8E-C34CB6077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A6F71-DCB0-4758-A187-F8BC36B81D43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5B85F5-7F6D-BCC9-BB01-D9E26E22E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BF4F0F-1511-3727-002D-F9DC0BA0C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C4AB-7248-4758-AEF9-24C6F75AB6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063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3E3702-8485-1C9D-FE11-75E91948C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9DF0F5-FA7E-D0B1-A518-8E2FBAAE4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99E2EE-EBF9-36FD-21B1-FA6540440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A6F71-DCB0-4758-A187-F8BC36B81D43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B754CC-9BAA-1238-9797-3EB30F485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DD37C6-590C-9C25-FD6A-B492B873A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C4AB-7248-4758-AEF9-24C6F75AB6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6548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CEBBA6-49FC-6927-0EAD-3E860042C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5052D3-7DD4-B3F2-B18B-1A7F4821F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CCF276-912D-3BF5-18BD-70885A7BA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A6F71-DCB0-4758-A187-F8BC36B81D43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D13D22-2FBC-7F3E-B7F6-71E25103E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778703-CD7A-B554-DEE6-67DEADCCE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C4AB-7248-4758-AEF9-24C6F75AB6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1701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B1FC8F-348D-47C1-169C-A00601C9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EF89A2-7A26-E109-C55B-0547F3AEF5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2C4074-A5DF-4936-E5BE-1AD91EBD2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3C847A-2511-1C4D-65FA-9D2D09011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A6F71-DCB0-4758-A187-F8BC36B81D43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AAE552-4AC0-5024-2C20-8EDB132A4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E3DB8C-ADA7-C671-BEE1-B1FF0D05C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C4AB-7248-4758-AEF9-24C6F75AB6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11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A8A86-DF0F-3C9F-1568-B344709E0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51843B-0528-D819-D035-C7659CFF3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F9B354C-FD88-7CDD-94D5-B83DB9557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D51AA41-B00F-4E9E-03DE-AF34723836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DFC1F1A-2479-5683-E0E8-9A68BC3E2B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C2FC266-026F-6260-6BE0-076474170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A6F71-DCB0-4758-A187-F8BC36B81D43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9F98CC-93E6-43A4-0630-E852CC3E0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025B067-CA9A-3C70-105B-28755AE6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C4AB-7248-4758-AEF9-24C6F75AB6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3968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00F21F-80EE-6126-8E34-15281FB6D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E80992A-CBF7-795A-3756-84D0AD75A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A6F71-DCB0-4758-A187-F8BC36B81D43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BECED78-2D58-B8D7-5CA5-54C3DEA75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1036A04-791C-EC87-E9F8-1D79A12C6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C4AB-7248-4758-AEF9-24C6F75AB6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453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A2964E3-1CD2-56EF-A6A0-CA855B66F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A6F71-DCB0-4758-A187-F8BC36B81D43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C13B659-10F6-9E0E-D3B3-C91C82D3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F192AF-A2B7-58D0-8355-A3F9BE92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C4AB-7248-4758-AEF9-24C6F75AB6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4148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39FF9-741C-89BF-9580-52E07DD39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4ED240-617D-375A-D6F2-754D98B61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4A8204F-D8AB-BFBA-7267-113603005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4846B4F-AD82-FD6E-2D9B-8BEE2D0ED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A6F71-DCB0-4758-A187-F8BC36B81D43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8D0B39-3070-6FF0-8BBE-BA4BAF9E5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771811-5857-E405-0216-EFFABB34E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C4AB-7248-4758-AEF9-24C6F75AB6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361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BAA9D2-73D9-EA7C-B951-DEAA5810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672C76C-2808-6223-2E84-89801B314D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0A9137-4E32-6CCB-04D8-4FDC40F88A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1C8E1F0-699D-743F-820A-C800B4DC6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A6F71-DCB0-4758-A187-F8BC36B81D43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E94C328-2C4D-F3F2-86A5-3FB1208B7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49B19B-F97E-3F30-E782-4D8BBF18C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C4AB-7248-4758-AEF9-24C6F75AB6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4636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13C6A7-6DDD-7F21-D844-8DA9F0D04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6BC6128-3923-2ED5-9FD2-5E024B89BB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E2F573-61C1-5F0F-D54C-89C5441CF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A6F71-DCB0-4758-A187-F8BC36B81D43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5DC10B-5130-681B-38C3-70532B600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BFE632-1C1D-441C-1ECB-2829718B3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C4AB-7248-4758-AEF9-24C6F75AB6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0132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CC03598-5E32-B57B-BAAF-77901D8E0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0E047B0-46C0-2CC7-2896-B28058583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B1629E-EDDD-60A9-7FC4-7A8C1EAFB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A6F71-DCB0-4758-A187-F8BC36B81D43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0B035B-E6B8-F23C-5B1D-79E8C857B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E5EC57-6A8D-929B-848A-58FD10400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C4AB-7248-4758-AEF9-24C6F75AB6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541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090492-E77D-492E-D348-789B3F1B3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D3DDCD-72A1-E4E9-0855-E6937DA15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66BA18-46BE-77EE-3A72-A4F6D98578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A6F71-DCB0-4758-A187-F8BC36B81D43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90550D-1C33-77F8-8756-A76D6C23A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BC70B3-6A46-B656-9E0A-C802140D17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08C4AB-7248-4758-AEF9-24C6F75AB6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2401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jp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E392D35-AC5D-6CC8-BEE7-A6412FB78E0B}"/>
              </a:ext>
            </a:extLst>
          </p:cNvPr>
          <p:cNvSpPr txBox="1">
            <a:spLocks/>
          </p:cNvSpPr>
          <p:nvPr/>
        </p:nvSpPr>
        <p:spPr>
          <a:xfrm>
            <a:off x="2292626" y="2166319"/>
            <a:ext cx="7328451" cy="235267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/>
            <a:r>
              <a:rPr lang="ru-RU" sz="4400" dirty="0">
                <a:latin typeface="Arial" panose="020B0604020202020204" pitchFamily="34" charset="0"/>
                <a:cs typeface="Arial" panose="020B0604020202020204" pitchFamily="34" charset="0"/>
              </a:rPr>
              <a:t>Курсовая работа</a:t>
            </a:r>
          </a:p>
          <a:p>
            <a:pPr marL="182880"/>
            <a:endParaRPr lang="ru-RU" sz="4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2880"/>
            <a:r>
              <a:rPr lang="ru-RU" sz="4400" dirty="0">
                <a:latin typeface="Arial" panose="020B0604020202020204" pitchFamily="34" charset="0"/>
                <a:cs typeface="Arial" panose="020B0604020202020204" pitchFamily="34" charset="0"/>
              </a:rPr>
              <a:t>Веб-приложение учёта финансов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0F5AA-E981-695C-C039-A6C4AEDA09F5}"/>
              </a:ext>
            </a:extLst>
          </p:cNvPr>
          <p:cNvSpPr txBox="1"/>
          <p:nvPr/>
        </p:nvSpPr>
        <p:spPr>
          <a:xfrm>
            <a:off x="3273112" y="328071"/>
            <a:ext cx="56457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образования Иркутской области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Государственное бюджетное профессиональное 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образовательное учреждение Иркутской области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«Иркутский авиационный техникум»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(ГБПОУИО «ИАТ»)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D87EF-6F94-C4E4-B571-C8F87E05764D}"/>
              </a:ext>
            </a:extLst>
          </p:cNvPr>
          <p:cNvSpPr txBox="1"/>
          <p:nvPr/>
        </p:nvSpPr>
        <p:spPr>
          <a:xfrm>
            <a:off x="7123679" y="4910703"/>
            <a:ext cx="52149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Выполнила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Мартынов А.В.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Группа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ИС-2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-2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Кубата Е.С.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323809-EB8A-EADA-A86A-A8F90003CF69}"/>
              </a:ext>
            </a:extLst>
          </p:cNvPr>
          <p:cNvSpPr txBox="1"/>
          <p:nvPr/>
        </p:nvSpPr>
        <p:spPr>
          <a:xfrm>
            <a:off x="9731159" y="55990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4EE5C6-04A4-2A8C-E73B-2C7F64C459DB}"/>
              </a:ext>
            </a:extLst>
          </p:cNvPr>
          <p:cNvSpPr txBox="1"/>
          <p:nvPr/>
        </p:nvSpPr>
        <p:spPr>
          <a:xfrm>
            <a:off x="5356310" y="6345263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Иркутск 202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903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037FEFD-22B9-9B42-371F-CAE11AC0DD1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Цель и функциональные задачи веб-приложения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D0C11EB-BB5E-6ABC-57C6-82ED2E7A8C2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451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1" dirty="0"/>
              <a:t>Цель: </a:t>
            </a:r>
            <a:r>
              <a:rPr lang="ru-RU" dirty="0"/>
              <a:t>Разработка веб-приложения учёта финансов, обеспечивающего систематизацию и контроль личных финансовых потоков.</a:t>
            </a:r>
          </a:p>
          <a:p>
            <a:pPr algn="l"/>
            <a:r>
              <a:rPr lang="ru-RU" b="1" dirty="0"/>
              <a:t>Функциональные задачи веб-приложения:</a:t>
            </a:r>
          </a:p>
          <a:p>
            <a:pPr marL="457200" indent="-457200" algn="l">
              <a:buAutoNum type="arabicParenR"/>
            </a:pPr>
            <a:r>
              <a:rPr lang="ru-RU" dirty="0"/>
              <a:t>Регистрация и авторизация пользователей с ролевой моделью</a:t>
            </a:r>
          </a:p>
          <a:p>
            <a:pPr marL="457200" indent="-457200" algn="l">
              <a:buAutoNum type="arabicParenR"/>
            </a:pPr>
            <a:r>
              <a:rPr lang="ru-RU" dirty="0"/>
              <a:t>Управление счетами, категориями</a:t>
            </a:r>
          </a:p>
          <a:p>
            <a:pPr marL="457200" indent="-457200" algn="l">
              <a:buAutoNum type="arabicParenR"/>
            </a:pPr>
            <a:r>
              <a:rPr lang="ru-RU" dirty="0"/>
              <a:t>Создание транзакций</a:t>
            </a:r>
          </a:p>
          <a:p>
            <a:pPr marL="457200" indent="-457200" algn="l">
              <a:buAutoNum type="arabicParenR"/>
            </a:pPr>
            <a:r>
              <a:rPr lang="ru-RU" dirty="0"/>
              <a:t>Установка бюджетных лимитов</a:t>
            </a:r>
          </a:p>
          <a:p>
            <a:pPr marL="457200" indent="-457200" algn="l">
              <a:buAutoNum type="arabicParenR"/>
            </a:pPr>
            <a:r>
              <a:rPr lang="ru-RU" dirty="0"/>
              <a:t>Планирование финансовых целей</a:t>
            </a:r>
          </a:p>
          <a:p>
            <a:pPr marL="457200" indent="-457200" algn="l">
              <a:buAutoNum type="arabicParenR"/>
            </a:pPr>
            <a:r>
              <a:rPr lang="ru-RU" dirty="0"/>
              <a:t>Визуализация данных в виде графиков и диаграмм</a:t>
            </a:r>
          </a:p>
          <a:p>
            <a:pPr marL="457200" indent="-457200" algn="l">
              <a:buAutoNum type="arabicParenR"/>
            </a:pPr>
            <a:r>
              <a:rPr lang="ru-RU" dirty="0"/>
              <a:t>Администрирование системы</a:t>
            </a:r>
          </a:p>
          <a:p>
            <a:pPr algn="l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879934-BFF9-D907-1182-E0861FF4148B}"/>
              </a:ext>
            </a:extLst>
          </p:cNvPr>
          <p:cNvSpPr txBox="1"/>
          <p:nvPr/>
        </p:nvSpPr>
        <p:spPr>
          <a:xfrm>
            <a:off x="11388491" y="627729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2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914681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1680BCC2-F0DD-5463-ED94-23BEE6BBBD17}"/>
              </a:ext>
            </a:extLst>
          </p:cNvPr>
          <p:cNvSpPr txBox="1">
            <a:spLocks/>
          </p:cNvSpPr>
          <p:nvPr/>
        </p:nvSpPr>
        <p:spPr>
          <a:xfrm>
            <a:off x="2398790" y="259407"/>
            <a:ext cx="863484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/>
              <a:t>Предметная область курсовой работы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4006E90-A7DD-4AFA-6036-A8DD945B8FFF}"/>
              </a:ext>
            </a:extLst>
          </p:cNvPr>
          <p:cNvSpPr txBox="1">
            <a:spLocks/>
          </p:cNvSpPr>
          <p:nvPr/>
        </p:nvSpPr>
        <p:spPr>
          <a:xfrm>
            <a:off x="720048" y="1613645"/>
            <a:ext cx="4465906" cy="52443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Описание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400" b="1" dirty="0"/>
              <a:t>Предметная область:</a:t>
            </a:r>
            <a:r>
              <a:rPr lang="ru-RU" sz="1400" dirty="0"/>
              <a:t> Личные финансы пользователей, процессы учета доходов и расходов, планирование бюджета.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400" b="1" dirty="0"/>
              <a:t>Группа пользователей:</a:t>
            </a:r>
            <a:r>
              <a:rPr lang="ru-RU" sz="1400" dirty="0"/>
              <a:t> Люди, нуждающиеся в систематизации финансов, прозрачности трат и планировании накоплений.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400" b="1" dirty="0"/>
              <a:t>Проблематика:</a:t>
            </a:r>
            <a:r>
              <a:rPr lang="ru-RU" sz="1400" dirty="0"/>
              <a:t> Существующие приложения либо сложны, либо мало функциональны или имеют платную подписку.</a:t>
            </a: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33FB08-EEDE-5F21-19C4-E8A74977A604}"/>
              </a:ext>
            </a:extLst>
          </p:cNvPr>
          <p:cNvSpPr txBox="1"/>
          <p:nvPr/>
        </p:nvSpPr>
        <p:spPr>
          <a:xfrm>
            <a:off x="11388491" y="627729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/>
              <a:t>3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E1F95671-53AE-DA01-524B-5462B9609C7C}"/>
              </a:ext>
            </a:extLst>
          </p:cNvPr>
          <p:cNvSpPr txBox="1">
            <a:spLocks/>
          </p:cNvSpPr>
          <p:nvPr/>
        </p:nvSpPr>
        <p:spPr>
          <a:xfrm>
            <a:off x="6604486" y="1462655"/>
            <a:ext cx="5507001" cy="52443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165100" lvl="0" indent="0" algn="just">
              <a:spcAft>
                <a:spcPts val="0"/>
              </a:spcAft>
              <a:buNone/>
            </a:pPr>
            <a:endParaRPr lang="ru-RU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11" name="Рисунок 10" descr="Изображение выглядит как рисунок, зарисовка, графическая вставка, иллюстрац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0FC9F3B-4594-471A-9120-D51665CC9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844" y="1855982"/>
            <a:ext cx="4690688" cy="40767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51421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887579CD-1984-8B2F-7C8C-A7810F77991D}"/>
              </a:ext>
            </a:extLst>
          </p:cNvPr>
          <p:cNvSpPr txBox="1">
            <a:spLocks/>
          </p:cNvSpPr>
          <p:nvPr/>
        </p:nvSpPr>
        <p:spPr>
          <a:xfrm>
            <a:off x="1699404" y="-100195"/>
            <a:ext cx="928202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Инструментальные средства разработки</a:t>
            </a:r>
          </a:p>
        </p:txBody>
      </p:sp>
      <p:graphicFrame>
        <p:nvGraphicFramePr>
          <p:cNvPr id="5" name="Таблица 2">
            <a:extLst>
              <a:ext uri="{FF2B5EF4-FFF2-40B4-BE49-F238E27FC236}">
                <a16:creationId xmlns:a16="http://schemas.microsoft.com/office/drawing/2014/main" id="{00FCC8B2-C84D-63C7-15DC-F709871908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56231"/>
              </p:ext>
            </p:extLst>
          </p:nvPr>
        </p:nvGraphicFramePr>
        <p:xfrm>
          <a:off x="510028" y="988185"/>
          <a:ext cx="11171940" cy="498263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23980">
                  <a:extLst>
                    <a:ext uri="{9D8B030D-6E8A-4147-A177-3AD203B41FA5}">
                      <a16:colId xmlns:a16="http://schemas.microsoft.com/office/drawing/2014/main" val="489332136"/>
                    </a:ext>
                  </a:extLst>
                </a:gridCol>
                <a:gridCol w="3723980">
                  <a:extLst>
                    <a:ext uri="{9D8B030D-6E8A-4147-A177-3AD203B41FA5}">
                      <a16:colId xmlns:a16="http://schemas.microsoft.com/office/drawing/2014/main" val="699667990"/>
                    </a:ext>
                  </a:extLst>
                </a:gridCol>
                <a:gridCol w="3723980">
                  <a:extLst>
                    <a:ext uri="{9D8B030D-6E8A-4147-A177-3AD203B41FA5}">
                      <a16:colId xmlns:a16="http://schemas.microsoft.com/office/drawing/2014/main" val="3597329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Этап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Изображение (логотип)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Название инструмента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068126"/>
                  </a:ext>
                </a:extLst>
              </a:tr>
              <a:tr h="71212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веб-приложения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Draw.io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19065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базы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MySQL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179013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интерфейса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Figma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6054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 веб-приложения 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среда разработки)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Visual Studio Code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600580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 веб-приложения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PHP, JavaScript, HTML5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50000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 веб-приложения (фреймворки)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Laravel, Vue.js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35061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 веб-приложения (библиотеки)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ApexCharts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Laravel Sanctum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927718"/>
                  </a:ext>
                </a:extLst>
              </a:tr>
            </a:tbl>
          </a:graphicData>
        </a:graphic>
      </p:graphicFrame>
      <p:sp>
        <p:nvSpPr>
          <p:cNvPr id="6" name="AutoShape 4" descr="Visual Studio Code Logo Vector SVG Icon - SVG Repo">
            <a:extLst>
              <a:ext uri="{FF2B5EF4-FFF2-40B4-BE49-F238E27FC236}">
                <a16:creationId xmlns:a16="http://schemas.microsoft.com/office/drawing/2014/main" id="{FD707289-D856-46DC-F7F0-0681CD6E1B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8665E3-6205-AADD-B97F-49CC3570CD74}"/>
              </a:ext>
            </a:extLst>
          </p:cNvPr>
          <p:cNvSpPr txBox="1"/>
          <p:nvPr/>
        </p:nvSpPr>
        <p:spPr>
          <a:xfrm>
            <a:off x="11646716" y="6421554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/>
              <a:t>4</a:t>
            </a:r>
          </a:p>
        </p:txBody>
      </p:sp>
      <p:pic>
        <p:nvPicPr>
          <p:cNvPr id="16" name="Рисунок 15" descr="Изображение выглядит как Шрифт, Графика, желтый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D284CA3-2908-3205-C419-28065EACA1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867" y="4045948"/>
            <a:ext cx="618437" cy="618437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Графика, апельсин, красный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80EEDBC-F453-EEA1-104C-6EC9D4A0F0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148" y="4025944"/>
            <a:ext cx="600140" cy="600140"/>
          </a:xfrm>
          <a:prstGeom prst="rect">
            <a:avLst/>
          </a:prstGeom>
        </p:spPr>
      </p:pic>
      <p:pic>
        <p:nvPicPr>
          <p:cNvPr id="20" name="Рисунок 19" descr="Изображение выглядит как шаблон, искусство, Симметрия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0F9B584-10D1-CCC7-51BF-7D090939BC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411" y="4654602"/>
            <a:ext cx="574269" cy="597599"/>
          </a:xfrm>
          <a:prstGeom prst="rect">
            <a:avLst/>
          </a:prstGeom>
        </p:spPr>
      </p:pic>
      <p:pic>
        <p:nvPicPr>
          <p:cNvPr id="22" name="Рисунок 21" descr="Изображение выглядит как символ, Граф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0038F63-8C6C-45D5-286F-BF3D889657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405" y="4720259"/>
            <a:ext cx="680494" cy="590138"/>
          </a:xfrm>
          <a:prstGeom prst="rect">
            <a:avLst/>
          </a:prstGeom>
        </p:spPr>
      </p:pic>
      <p:pic>
        <p:nvPicPr>
          <p:cNvPr id="24" name="Рисунок 23" descr="Изображение выглядит как треугольник, Красочность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7903ECC-5CB8-CF5C-D9FB-A7478FA74C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4339" y="5216109"/>
            <a:ext cx="833109" cy="833109"/>
          </a:xfrm>
          <a:prstGeom prst="rect">
            <a:avLst/>
          </a:prstGeom>
        </p:spPr>
      </p:pic>
      <p:pic>
        <p:nvPicPr>
          <p:cNvPr id="26" name="Рисунок 25" descr="Изображение выглядит как круг, Графика, логотип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CC0E635-89FA-1229-F846-CCEE363C00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138" y="5341052"/>
            <a:ext cx="630761" cy="619791"/>
          </a:xfrm>
          <a:prstGeom prst="rect">
            <a:avLst/>
          </a:prstGeom>
        </p:spPr>
      </p:pic>
      <p:pic>
        <p:nvPicPr>
          <p:cNvPr id="28" name="Рисунок 27" descr="Изображение выглядит как Графика, Шрифт, графический дизайн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A428159-7E03-CAA9-C6E6-A6CFA631F2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758" y="2076247"/>
            <a:ext cx="1321294" cy="566269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3D859C04-6EBD-15FF-8FAA-9B433017680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74144" y="2752755"/>
            <a:ext cx="360720" cy="540972"/>
          </a:xfrm>
          <a:prstGeom prst="rect">
            <a:avLst/>
          </a:prstGeom>
        </p:spPr>
      </p:pic>
      <p:pic>
        <p:nvPicPr>
          <p:cNvPr id="36" name="Рисунок 35" descr="Изображение выглядит как Цвет электрик, символ, синий, Прямоугольн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4544F42-1AE6-88B5-6026-2D1676BD472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188" y="3375389"/>
            <a:ext cx="623472" cy="623472"/>
          </a:xfrm>
          <a:prstGeom prst="rect">
            <a:avLst/>
          </a:prstGeom>
        </p:spPr>
      </p:pic>
      <p:pic>
        <p:nvPicPr>
          <p:cNvPr id="38" name="Рисунок 37" descr="Изображение выглядит как круг, логотип, символ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CE5176C-31EF-1B3C-2E16-31311FE15D7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161" y="4086855"/>
            <a:ext cx="998862" cy="539229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C217124-5A90-4399-CA31-93FAACF69D5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564" y="1389742"/>
            <a:ext cx="618096" cy="61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290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94EFAF17-7B26-FAF3-18B2-54441AAD9BA9}"/>
              </a:ext>
            </a:extLst>
          </p:cNvPr>
          <p:cNvSpPr txBox="1">
            <a:spLocks/>
          </p:cNvSpPr>
          <p:nvPr/>
        </p:nvSpPr>
        <p:spPr>
          <a:xfrm>
            <a:off x="2566458" y="262932"/>
            <a:ext cx="7059083" cy="6421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Проектирование веб-приложения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C1FD2-81C3-5230-3E4B-F98A2F1395EF}"/>
              </a:ext>
            </a:extLst>
          </p:cNvPr>
          <p:cNvSpPr txBox="1"/>
          <p:nvPr/>
        </p:nvSpPr>
        <p:spPr>
          <a:xfrm>
            <a:off x="1506751" y="1248389"/>
            <a:ext cx="3114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Диаграмма прецедентов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70CC49-6266-17AF-4844-FF6CCD52477F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B188B8-AAAD-0D47-B543-92F32FDF837F}"/>
              </a:ext>
            </a:extLst>
          </p:cNvPr>
          <p:cNvSpPr txBox="1"/>
          <p:nvPr/>
        </p:nvSpPr>
        <p:spPr>
          <a:xfrm>
            <a:off x="6663510" y="1248389"/>
            <a:ext cx="4667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Диаграмма деятельности</a:t>
            </a:r>
          </a:p>
        </p:txBody>
      </p:sp>
      <p:pic>
        <p:nvPicPr>
          <p:cNvPr id="17" name="Рисунок 16" descr="Изображение выглядит как текст, рисунок, диаграмма, зарисов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87FFA10-CC58-22B5-CF0F-A930B8458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903" y="1910312"/>
            <a:ext cx="4928587" cy="43402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Рисунок 18" descr="Изображение выглядит как диаграмма, текст, зарисовка, рисуно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16C2F5C-C757-F989-4916-15B431393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510" y="1896222"/>
            <a:ext cx="4590157" cy="43209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69267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D07C1AD-6482-D51D-A91E-98CC379756D9}"/>
              </a:ext>
            </a:extLst>
          </p:cNvPr>
          <p:cNvSpPr txBox="1">
            <a:spLocks/>
          </p:cNvSpPr>
          <p:nvPr/>
        </p:nvSpPr>
        <p:spPr>
          <a:xfrm>
            <a:off x="518831" y="1444299"/>
            <a:ext cx="4833942" cy="4001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Диаграмма взаимодействия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E337B36-0358-4E33-6D88-88514C033093}"/>
              </a:ext>
            </a:extLst>
          </p:cNvPr>
          <p:cNvSpPr/>
          <p:nvPr/>
        </p:nvSpPr>
        <p:spPr>
          <a:xfrm>
            <a:off x="7137829" y="1444299"/>
            <a:ext cx="46761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Контекстная диаграмма IDEF0</a:t>
            </a:r>
          </a:p>
        </p:txBody>
      </p:sp>
      <p:pic>
        <p:nvPicPr>
          <p:cNvPr id="11" name="Рисунок 10" descr="Изображение выглядит как текст, диаграмма, линия, Параллель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977E08F-A16E-5D0D-D6F3-45886E419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429" y="2303750"/>
            <a:ext cx="5209592" cy="35541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9662DAA-4155-0BDF-B50D-1E96AA12F89B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6</a:t>
            </a:r>
            <a:endParaRPr lang="ru-RU" sz="2000" b="1" dirty="0"/>
          </a:p>
        </p:txBody>
      </p:sp>
      <p:sp>
        <p:nvSpPr>
          <p:cNvPr id="15" name="Заголовок 4">
            <a:extLst>
              <a:ext uri="{FF2B5EF4-FFF2-40B4-BE49-F238E27FC236}">
                <a16:creationId xmlns:a16="http://schemas.microsoft.com/office/drawing/2014/main" id="{93D40E00-48AD-279F-A6B8-C6B5C8252AC7}"/>
              </a:ext>
            </a:extLst>
          </p:cNvPr>
          <p:cNvSpPr txBox="1">
            <a:spLocks/>
          </p:cNvSpPr>
          <p:nvPr/>
        </p:nvSpPr>
        <p:spPr>
          <a:xfrm>
            <a:off x="2566458" y="262932"/>
            <a:ext cx="7059083" cy="6421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Проектирование веб-приложения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48DC26C-5F60-33AD-C6CD-CC5A38EEBD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" y="2113873"/>
            <a:ext cx="4267453" cy="38868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20308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D07C1AD-6482-D51D-A91E-98CC379756D9}"/>
              </a:ext>
            </a:extLst>
          </p:cNvPr>
          <p:cNvSpPr txBox="1">
            <a:spLocks/>
          </p:cNvSpPr>
          <p:nvPr/>
        </p:nvSpPr>
        <p:spPr>
          <a:xfrm>
            <a:off x="1083933" y="1469373"/>
            <a:ext cx="4833942" cy="4001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Диаграмма декомпозиций А1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E337B36-0358-4E33-6D88-88514C033093}"/>
              </a:ext>
            </a:extLst>
          </p:cNvPr>
          <p:cNvSpPr/>
          <p:nvPr/>
        </p:nvSpPr>
        <p:spPr>
          <a:xfrm>
            <a:off x="8082345" y="1444299"/>
            <a:ext cx="25871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Диаграмма классов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662DAA-4155-0BDF-B50D-1E96AA12F89B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7</a:t>
            </a:r>
            <a:endParaRPr lang="ru-RU" sz="2000" b="1" dirty="0"/>
          </a:p>
        </p:txBody>
      </p:sp>
      <p:sp>
        <p:nvSpPr>
          <p:cNvPr id="15" name="Заголовок 4">
            <a:extLst>
              <a:ext uri="{FF2B5EF4-FFF2-40B4-BE49-F238E27FC236}">
                <a16:creationId xmlns:a16="http://schemas.microsoft.com/office/drawing/2014/main" id="{93D40E00-48AD-279F-A6B8-C6B5C8252AC7}"/>
              </a:ext>
            </a:extLst>
          </p:cNvPr>
          <p:cNvSpPr txBox="1">
            <a:spLocks/>
          </p:cNvSpPr>
          <p:nvPr/>
        </p:nvSpPr>
        <p:spPr>
          <a:xfrm>
            <a:off x="2566458" y="262932"/>
            <a:ext cx="7059083" cy="6421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Проектирование веб-приложения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05BF4B5-A8EA-4CC9-0654-3D16FA2A59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809" y="1958723"/>
            <a:ext cx="5190190" cy="35696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652D00B-2BA4-5DCB-9CD3-D8429FD28A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2987" y="1958723"/>
            <a:ext cx="2845913" cy="43299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02181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D07C1AD-6482-D51D-A91E-98CC379756D9}"/>
              </a:ext>
            </a:extLst>
          </p:cNvPr>
          <p:cNvSpPr txBox="1">
            <a:spLocks/>
          </p:cNvSpPr>
          <p:nvPr/>
        </p:nvSpPr>
        <p:spPr>
          <a:xfrm>
            <a:off x="3679028" y="1383648"/>
            <a:ext cx="4833942" cy="4001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Диаграмма потоков данных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662DAA-4155-0BDF-B50D-1E96AA12F89B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/>
              <a:t>8</a:t>
            </a:r>
          </a:p>
        </p:txBody>
      </p:sp>
      <p:sp>
        <p:nvSpPr>
          <p:cNvPr id="15" name="Заголовок 4">
            <a:extLst>
              <a:ext uri="{FF2B5EF4-FFF2-40B4-BE49-F238E27FC236}">
                <a16:creationId xmlns:a16="http://schemas.microsoft.com/office/drawing/2014/main" id="{93D40E00-48AD-279F-A6B8-C6B5C8252AC7}"/>
              </a:ext>
            </a:extLst>
          </p:cNvPr>
          <p:cNvSpPr txBox="1">
            <a:spLocks/>
          </p:cNvSpPr>
          <p:nvPr/>
        </p:nvSpPr>
        <p:spPr>
          <a:xfrm>
            <a:off x="2566458" y="262932"/>
            <a:ext cx="7059083" cy="6421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Проектирование веб-приложения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C9EA15-2EFB-A175-6F4F-6D6300864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812" y="2262287"/>
            <a:ext cx="9444373" cy="2152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52380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070BB712-3F12-41C6-D35F-DBDAE4FA4A2D}"/>
              </a:ext>
            </a:extLst>
          </p:cNvPr>
          <p:cNvSpPr txBox="1">
            <a:spLocks/>
          </p:cNvSpPr>
          <p:nvPr/>
        </p:nvSpPr>
        <p:spPr>
          <a:xfrm>
            <a:off x="2924509" y="204969"/>
            <a:ext cx="6342979" cy="5575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Проектирование базы данных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12070F-4990-D9D7-113A-AB55DD55E3D1}"/>
              </a:ext>
            </a:extLst>
          </p:cNvPr>
          <p:cNvSpPr txBox="1"/>
          <p:nvPr/>
        </p:nvSpPr>
        <p:spPr>
          <a:xfrm>
            <a:off x="5302364" y="1041331"/>
            <a:ext cx="1587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ER-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модель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9C8256-A638-3A14-9A41-2BDFE81210BF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/>
              <a:t>9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779CD39-3474-51CB-2B19-F1F683E63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766" y="1720228"/>
            <a:ext cx="5566463" cy="43752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88646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C38B159-B786-AD3A-E5CE-7D73D3D3EB92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Демонстрация курсовой работы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193AE2-15BA-AC9A-EDB4-F1BB425F2DB8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16095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545BCDA-5CD4-F754-D6F1-8E382797949C}"/>
              </a:ext>
            </a:extLst>
          </p:cNvPr>
          <p:cNvSpPr txBox="1">
            <a:spLocks/>
          </p:cNvSpPr>
          <p:nvPr/>
        </p:nvSpPr>
        <p:spPr>
          <a:xfrm>
            <a:off x="4110267" y="485774"/>
            <a:ext cx="3643659" cy="6000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Вывод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9BE4E0-9290-DD3B-E4C0-FA1D3BE07EB4}"/>
              </a:ext>
            </a:extLst>
          </p:cNvPr>
          <p:cNvSpPr txBox="1"/>
          <p:nvPr/>
        </p:nvSpPr>
        <p:spPr>
          <a:xfrm>
            <a:off x="11567585" y="637876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/>
              <a:t>11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EDAF6791-11BD-F129-BE08-EE50E45AD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64033"/>
              </p:ext>
            </p:extLst>
          </p:nvPr>
        </p:nvGraphicFramePr>
        <p:xfrm>
          <a:off x="435275" y="1350010"/>
          <a:ext cx="10993641" cy="4447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3641">
                  <a:extLst>
                    <a:ext uri="{9D8B030D-6E8A-4147-A177-3AD203B41FA5}">
                      <a16:colId xmlns:a16="http://schemas.microsoft.com/office/drawing/2014/main" val="2476489099"/>
                    </a:ext>
                  </a:extLst>
                </a:gridCol>
              </a:tblGrid>
              <a:tr h="5976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Выполненные задачи: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19887"/>
                  </a:ext>
                </a:extLst>
              </a:tr>
              <a:tr h="427717"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Проведён анализ предметной области, изучены потребности пользователей и существующие аналоги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808504"/>
                  </a:ext>
                </a:extLst>
              </a:tr>
              <a:tr h="427717"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Определены базовые сущности системы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326122"/>
                  </a:ext>
                </a:extLst>
              </a:tr>
              <a:tr h="427717"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Сформулированы функциональные требования и выбран технологический стек разработки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231817"/>
                  </a:ext>
                </a:extLst>
              </a:tr>
              <a:tr h="427717"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Спроектирована архитектура веб-приложения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76623"/>
                  </a:ext>
                </a:extLst>
              </a:tr>
              <a:tr h="427717"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Разработаны прототипы интерфейсов в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Figma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815917"/>
                  </a:ext>
                </a:extLst>
              </a:tr>
              <a:tr h="427717"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Реализованы модули системы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75617"/>
                  </a:ext>
                </a:extLst>
              </a:tr>
              <a:tr h="427717"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Обеспечена ролевая модель доступа с разграничением прав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001327"/>
                  </a:ext>
                </a:extLst>
              </a:tr>
              <a:tr h="427717"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Реализована визуализация финансовых данных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679186"/>
                  </a:ext>
                </a:extLst>
              </a:tr>
              <a:tr h="427717"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Подготовлена программная документация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576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71977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304</Words>
  <Application>Microsoft Office PowerPoint</Application>
  <PresentationFormat>Широкоэкранный</PresentationFormat>
  <Paragraphs>80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Symbol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Андрей Мартынов</dc:creator>
  <cp:lastModifiedBy>Андрей Мартынов</cp:lastModifiedBy>
  <cp:revision>27</cp:revision>
  <dcterms:created xsi:type="dcterms:W3CDTF">2026-05-12T13:34:05Z</dcterms:created>
  <dcterms:modified xsi:type="dcterms:W3CDTF">2026-05-12T14:57:52Z</dcterms:modified>
</cp:coreProperties>
</file>